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75" d="100"/>
          <a:sy n="75" d="100"/>
        </p:scale>
        <p:origin x="27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622986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  Loan Approval Prediction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778240" y="22860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Presented by :</a:t>
            </a:r>
            <a:endParaRPr lang="en-US" sz="1600" b="1" dirty="0"/>
          </a:p>
          <a:p>
            <a:pPr marL="0" indent="0" algn="r">
              <a:buNone/>
            </a:pPr>
            <a:r>
              <a:rPr lang="en-US" sz="1600" b="1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Shammah Ndubuisi</a:t>
            </a:r>
            <a:endParaRPr lang="en-US" sz="1600" b="1" dirty="0"/>
          </a:p>
        </p:txBody>
      </p:sp>
      <p:sp>
        <p:nvSpPr>
          <p:cNvPr id="4" name="Shape 2"/>
          <p:cNvSpPr/>
          <p:nvPr/>
        </p:nvSpPr>
        <p:spPr>
          <a:xfrm>
            <a:off x="548640" y="777240"/>
            <a:ext cx="11064240" cy="0"/>
          </a:xfrm>
          <a:prstGeom prst="line">
            <a:avLst/>
          </a:prstGeom>
          <a:noFill/>
          <a:ln w="12700">
            <a:solidFill>
              <a:srgbClr val="3A3A3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2377440"/>
            <a:ext cx="82296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8000" b="1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8000" dirty="0"/>
          </a:p>
          <a:p>
            <a:pPr marL="0" indent="0">
              <a:buNone/>
            </a:pPr>
            <a:r>
              <a:rPr lang="en-US" sz="8000" b="1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Understanding Report</a:t>
            </a:r>
            <a:endParaRPr lang="en-US" sz="8000" dirty="0"/>
          </a:p>
        </p:txBody>
      </p:sp>
      <p:sp>
        <p:nvSpPr>
          <p:cNvPr id="6" name="Text 4"/>
          <p:cNvSpPr txBox="1"/>
          <p:nvPr/>
        </p:nvSpPr>
        <p:spPr>
          <a:xfrm>
            <a:off x="8961120" y="420624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400" b="1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2 Internship Report</a:t>
            </a:r>
            <a:endParaRPr lang="en-US" sz="2400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  Business Understanding Report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Business Problem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64240" cy="3566160"/>
          </a:xfrm>
          <a:prstGeom prst="roundRect">
            <a:avLst>
              <a:gd name="adj" fmla="val 7692"/>
            </a:avLst>
          </a:prstGeom>
          <a:solidFill>
            <a:srgbClr val="4A4A4D">
              <a:alpha val="60000"/>
            </a:srgbClr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2194560"/>
            <a:ext cx="201168" cy="201168"/>
          </a:xfrm>
          <a:prstGeom prst="ellipse">
            <a:avLst/>
          </a:prstGeom>
          <a:solidFill>
            <a:srgbClr val="BCD3F5"/>
          </a:solidFill>
          <a:ln w="12700">
            <a:solidFill>
              <a:srgbClr val="BCD3F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216152" y="2190496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DECISION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743200"/>
            <a:ext cx="31089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lender must decide whether each loan application is approved (Y) or not (N), using applicant details such as income, credit history, loan amount and property area.</a:t>
            </a: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4526280" y="2194560"/>
            <a:ext cx="201168" cy="201168"/>
          </a:xfrm>
          <a:prstGeom prst="ellipse">
            <a:avLst/>
          </a:prstGeom>
          <a:solidFill>
            <a:srgbClr val="BCD3F5"/>
          </a:solidFill>
          <a:ln w="12700">
            <a:solidFill>
              <a:srgbClr val="BCD3F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873752" y="2190496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RISK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4526280" y="2743200"/>
            <a:ext cx="31089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Approving a weak application risks a loss; rejecting a strong one loses a customer. Decisions must be consistent and based on evidence, not guesswork.</a:t>
            </a: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4251960" y="2103120"/>
            <a:ext cx="0" cy="3017520"/>
          </a:xfrm>
          <a:prstGeom prst="line">
            <a:avLst/>
          </a:prstGeom>
          <a:noFill/>
          <a:ln w="9525">
            <a:solidFill>
              <a:srgbClr val="D0D0D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183880" y="2194560"/>
            <a:ext cx="201168" cy="201168"/>
          </a:xfrm>
          <a:prstGeom prst="ellipse">
            <a:avLst/>
          </a:prstGeom>
          <a:solidFill>
            <a:srgbClr val="BCD3F5"/>
          </a:solidFill>
          <a:ln w="12700">
            <a:solidFill>
              <a:srgbClr val="BCD3F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531352" y="2190496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DATA CHALLENGE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8183880" y="2743200"/>
            <a:ext cx="31089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614 labelled applications, with gaps, skewed incomes and mixed data types. Raw data cannot go straight into a model.</a:t>
            </a: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7909560" y="2103120"/>
            <a:ext cx="0" cy="3017520"/>
          </a:xfrm>
          <a:prstGeom prst="line">
            <a:avLst/>
          </a:prstGeom>
          <a:noFill/>
          <a:ln w="9525">
            <a:solidFill>
              <a:srgbClr val="D0D0D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5760720"/>
            <a:ext cx="11064240" cy="502920"/>
          </a:xfrm>
          <a:prstGeom prst="roundRect">
            <a:avLst>
              <a:gd name="adj" fmla="val 50000"/>
            </a:avLst>
          </a:prstGeom>
          <a:solidFill>
            <a:srgbClr val="BCD3F5"/>
          </a:solidFill>
          <a:ln w="9525">
            <a:solidFill>
              <a:srgbClr val="6B6F7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576072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goal of the project was to turn raw applications into a clean, ML-ready dataset that predicts approval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  Business Understanding Report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Understanding the Data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2606040" cy="1920240"/>
          </a:xfrm>
          <a:prstGeom prst="roundRect">
            <a:avLst>
              <a:gd name="adj" fmla="val 14286"/>
            </a:avLst>
          </a:prstGeom>
          <a:solidFill>
            <a:srgbClr val="FFFFFF">
              <a:alpha val="20000"/>
            </a:srgbClr>
          </a:solidFill>
          <a:ln w="12700">
            <a:solidFill>
              <a:srgbClr val="6B6F7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210312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400" b="1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614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301752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applications</a:t>
            </a: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3383280" y="1920240"/>
            <a:ext cx="2606040" cy="1920240"/>
          </a:xfrm>
          <a:prstGeom prst="roundRect">
            <a:avLst>
              <a:gd name="adj" fmla="val 14286"/>
            </a:avLst>
          </a:prstGeom>
          <a:solidFill>
            <a:srgbClr val="FFFFFF">
              <a:alpha val="20000"/>
            </a:srgbClr>
          </a:solidFill>
          <a:ln w="12700">
            <a:solidFill>
              <a:srgbClr val="6B6F7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611880" y="210312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400" b="1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4400" dirty="0"/>
          </a:p>
        </p:txBody>
      </p:sp>
      <p:sp>
        <p:nvSpPr>
          <p:cNvPr id="9" name="Text 7"/>
          <p:cNvSpPr txBox="1"/>
          <p:nvPr/>
        </p:nvSpPr>
        <p:spPr>
          <a:xfrm>
            <a:off x="3611880" y="301752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columns (12 features + target)</a:t>
            </a: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548640" y="4069080"/>
            <a:ext cx="2606040" cy="1920240"/>
          </a:xfrm>
          <a:prstGeom prst="roundRect">
            <a:avLst>
              <a:gd name="adj" fmla="val 14286"/>
            </a:avLst>
          </a:prstGeom>
          <a:solidFill>
            <a:srgbClr val="FFFFFF">
              <a:alpha val="20000"/>
            </a:srgbClr>
          </a:solidFill>
          <a:ln w="12700">
            <a:solidFill>
              <a:srgbClr val="6B6F7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7240" y="425196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400" b="1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367</a:t>
            </a:r>
            <a:endParaRPr lang="en-US" sz="4400" dirty="0"/>
          </a:p>
        </p:txBody>
      </p:sp>
      <p:sp>
        <p:nvSpPr>
          <p:cNvPr id="12" name="Text 10"/>
          <p:cNvSpPr txBox="1"/>
          <p:nvPr/>
        </p:nvSpPr>
        <p:spPr>
          <a:xfrm>
            <a:off x="777240" y="516636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applications, no answers</a:t>
            </a: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3383280" y="4069080"/>
            <a:ext cx="2606040" cy="1920240"/>
          </a:xfrm>
          <a:prstGeom prst="roundRect">
            <a:avLst>
              <a:gd name="adj" fmla="val 14286"/>
            </a:avLst>
          </a:prstGeom>
          <a:solidFill>
            <a:srgbClr val="FFFFFF">
              <a:alpha val="20000"/>
            </a:srgbClr>
          </a:solidFill>
          <a:ln w="12700">
            <a:solidFill>
              <a:srgbClr val="6B6F7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611880" y="425196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400" b="1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4400" dirty="0"/>
          </a:p>
        </p:txBody>
      </p:sp>
      <p:sp>
        <p:nvSpPr>
          <p:cNvPr id="15" name="Text 13"/>
          <p:cNvSpPr txBox="1"/>
          <p:nvPr/>
        </p:nvSpPr>
        <p:spPr>
          <a:xfrm>
            <a:off x="3611880" y="516636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columns with missing values</a:t>
            </a: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6446520" y="1828800"/>
            <a:ext cx="5120640" cy="3444135"/>
          </a:xfrm>
          <a:prstGeom prst="roundRect">
            <a:avLst>
              <a:gd name="adj" fmla="val 7965"/>
            </a:avLst>
          </a:prstGeom>
          <a:solidFill>
            <a:srgbClr val="FFFFFF">
              <a:alpha val="85000"/>
            </a:srgbClr>
          </a:solidFill>
          <a:ln w="12700">
            <a:solidFill>
              <a:srgbClr val="6B6F76"/>
            </a:solidFill>
            <a:prstDash val="solid"/>
          </a:ln>
        </p:spPr>
      </p:sp>
      <p:pic>
        <p:nvPicPr>
          <p:cNvPr id="17" name="Image 0" descr="/home/claude/w/img/01_target_distribu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0" y="1965960"/>
            <a:ext cx="4846320" cy="3169815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6405880" y="5501535"/>
            <a:ext cx="55194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69% approved, 31% not approved. The implication is that a model that always says "approved" is right 69% of the time, so accuracy alone would be misleading.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  Business Understanding Report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Preprocessing Decisions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440680" cy="2011680"/>
          </a:xfrm>
          <a:prstGeom prst="roundRect">
            <a:avLst>
              <a:gd name="adj" fmla="val 13636"/>
            </a:avLst>
          </a:prstGeom>
          <a:solidFill>
            <a:srgbClr val="BCD3F5">
              <a:alpha val="85000"/>
            </a:srgbClr>
          </a:solidFill>
          <a:ln w="12700">
            <a:solidFill>
              <a:srgbClr val="6B6F7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103120"/>
            <a:ext cx="640080" cy="4114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6B6F7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210312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645920" y="214122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Missing values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743200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Filled with the training-set mode (categories, credit history, term) or median (loan amount).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172200" y="1828800"/>
            <a:ext cx="5440680" cy="2011680"/>
          </a:xfrm>
          <a:prstGeom prst="roundRect">
            <a:avLst>
              <a:gd name="adj" fmla="val 13636"/>
            </a:avLst>
          </a:prstGeom>
          <a:solidFill>
            <a:srgbClr val="FFFFFF">
              <a:alpha val="20000"/>
            </a:srgbClr>
          </a:solidFill>
          <a:ln w="12700">
            <a:solidFill>
              <a:srgbClr val="6B6F7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46520" y="2103120"/>
            <a:ext cx="640080" cy="4114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6B6F7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46520" y="210312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7269480" y="216662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Duplicates and types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6446520" y="2743200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duplicates found. "3+" dependents became 3; credit history and term became whole numbers.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48640" y="4114800"/>
            <a:ext cx="5440680" cy="2011680"/>
          </a:xfrm>
          <a:prstGeom prst="roundRect">
            <a:avLst>
              <a:gd name="adj" fmla="val 13636"/>
            </a:avLst>
          </a:prstGeom>
          <a:solidFill>
            <a:srgbClr val="FFFFFF">
              <a:alpha val="20000"/>
            </a:srgbClr>
          </a:solidFill>
          <a:ln w="12700">
            <a:solidFill>
              <a:srgbClr val="6B6F7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" y="4389120"/>
            <a:ext cx="640080" cy="4114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6B6F7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2960" y="438912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645920" y="442722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Outliers</a:t>
            </a:r>
            <a:endParaRPr lang="en-US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5029200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Capped at IQR limits instead of deleting rows. With 614 rows, every row counts.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172200" y="4114800"/>
            <a:ext cx="5440680" cy="2011680"/>
          </a:xfrm>
          <a:prstGeom prst="roundRect">
            <a:avLst>
              <a:gd name="adj" fmla="val 13636"/>
            </a:avLst>
          </a:prstGeom>
          <a:solidFill>
            <a:srgbClr val="BCD3F5">
              <a:alpha val="85000"/>
            </a:srgbClr>
          </a:solidFill>
          <a:ln w="12700">
            <a:solidFill>
              <a:srgbClr val="6B6F7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46520" y="4389120"/>
            <a:ext cx="640080" cy="4114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6B6F7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46520" y="438912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7269480" y="443992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Encoding and scaling</a:t>
            </a:r>
            <a:endParaRPr lang="en-US" sz="2400" dirty="0"/>
          </a:p>
        </p:txBody>
      </p:sp>
      <p:sp>
        <p:nvSpPr>
          <p:cNvPr id="23" name="Text 21"/>
          <p:cNvSpPr txBox="1"/>
          <p:nvPr/>
        </p:nvSpPr>
        <p:spPr>
          <a:xfrm>
            <a:off x="6446520" y="5029200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Binary 0/1 labels, one-hot for property area, StandardScaler on continuous columns.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  Business Understanding Report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50012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Engineering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30171" y="2195592"/>
            <a:ext cx="2468880" cy="457200"/>
          </a:xfrm>
          <a:prstGeom prst="roundRect">
            <a:avLst>
              <a:gd name="adj" fmla="val 50000"/>
            </a:avLst>
          </a:prstGeom>
          <a:solidFill>
            <a:srgbClr val="BCD3F5"/>
          </a:solidFill>
          <a:ln w="9525">
            <a:solidFill>
              <a:srgbClr val="6B6F7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30171" y="219559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total_household_income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3227651" y="2241312"/>
            <a:ext cx="3886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Applicant + co-applicant income: lenders look at the whole household.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30171" y="3155712"/>
            <a:ext cx="2468880" cy="457200"/>
          </a:xfrm>
          <a:prstGeom prst="roundRect">
            <a:avLst>
              <a:gd name="adj" fmla="val 50000"/>
            </a:avLst>
          </a:prstGeom>
          <a:solidFill>
            <a:srgbClr val="BCD3F5"/>
          </a:solidFill>
          <a:ln w="9525">
            <a:solidFill>
              <a:srgbClr val="6B6F7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30171" y="315571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loan_income_ratio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3227651" y="3201432"/>
            <a:ext cx="3886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Loan ÷ income: how large the loan is compared with ability to pay.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30171" y="4115832"/>
            <a:ext cx="2468880" cy="457200"/>
          </a:xfrm>
          <a:prstGeom prst="roundRect">
            <a:avLst>
              <a:gd name="adj" fmla="val 50000"/>
            </a:avLst>
          </a:prstGeom>
          <a:solidFill>
            <a:srgbClr val="BCD3F5"/>
          </a:solidFill>
          <a:ln w="9525">
            <a:solidFill>
              <a:srgbClr val="6B6F7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30171" y="411583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emi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3227651" y="4161552"/>
            <a:ext cx="3886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Loan ÷ term: a rough monthly repayment.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30171" y="5075952"/>
            <a:ext cx="2468880" cy="457200"/>
          </a:xfrm>
          <a:prstGeom prst="roundRect">
            <a:avLst>
              <a:gd name="adj" fmla="val 50000"/>
            </a:avLst>
          </a:prstGeom>
          <a:solidFill>
            <a:srgbClr val="BCD3F5"/>
          </a:solidFill>
          <a:ln w="9525">
            <a:solidFill>
              <a:srgbClr val="6B6F7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30171" y="507595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balance_income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3227651" y="5121672"/>
            <a:ext cx="3886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Income minus emi: money left after repayment.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530171" y="6127512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i="1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Loan amount is in thousands, so it was multiplied by 1,000 before comparing with income.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571051" y="2104152"/>
            <a:ext cx="4206240" cy="3196421"/>
          </a:xfrm>
          <a:prstGeom prst="roundRect">
            <a:avLst>
              <a:gd name="adj" fmla="val 8582"/>
            </a:avLst>
          </a:prstGeom>
          <a:solidFill>
            <a:srgbClr val="FFFFFF">
              <a:alpha val="85000"/>
            </a:srgbClr>
          </a:solidFill>
          <a:ln w="12700">
            <a:solidFill>
              <a:srgbClr val="6B6F76"/>
            </a:solidFill>
            <a:prstDash val="solid"/>
          </a:ln>
        </p:spPr>
      </p:sp>
      <p:pic>
        <p:nvPicPr>
          <p:cNvPr id="18" name="Image 0" descr="/home/claude/w/img/11_feature_importanc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08211" y="2241312"/>
            <a:ext cx="3931920" cy="2922101"/>
          </a:xfrm>
          <a:prstGeom prst="rect">
            <a:avLst/>
          </a:prstGeom>
        </p:spPr>
      </p:pic>
      <p:sp>
        <p:nvSpPr>
          <p:cNvPr id="19" name="Text 16"/>
          <p:cNvSpPr txBox="1"/>
          <p:nvPr/>
        </p:nvSpPr>
        <p:spPr>
          <a:xfrm>
            <a:off x="7708211" y="5483453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loan_income_ratio ranked second in importance. emi and balance_income were later dropped as redundant.</a:t>
            </a:r>
            <a:endParaRPr lang="en-US" sz="16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49D1924-347C-74AD-9D5E-B81B4C8735F8}"/>
              </a:ext>
            </a:extLst>
          </p:cNvPr>
          <p:cNvSpPr txBox="1"/>
          <p:nvPr/>
        </p:nvSpPr>
        <p:spPr>
          <a:xfrm>
            <a:off x="6235700" y="11176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GB" dirty="0"/>
          </a:p>
        </p:txBody>
      </p:sp>
      <p:sp>
        <p:nvSpPr>
          <p:cNvPr id="21" name="Text 4">
            <a:extLst>
              <a:ext uri="{FF2B5EF4-FFF2-40B4-BE49-F238E27FC236}">
                <a16:creationId xmlns:a16="http://schemas.microsoft.com/office/drawing/2014/main" id="{F4A78E39-5189-F94F-EEB1-C738677FE7A8}"/>
              </a:ext>
            </a:extLst>
          </p:cNvPr>
          <p:cNvSpPr txBox="1"/>
          <p:nvPr/>
        </p:nvSpPr>
        <p:spPr>
          <a:xfrm>
            <a:off x="548640" y="1447046"/>
            <a:ext cx="61696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following features were created to gain a better understanding of the data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  Business Understanding Report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Observations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94360" y="1645920"/>
            <a:ext cx="10972800" cy="3186759"/>
          </a:xfrm>
          <a:prstGeom prst="roundRect">
            <a:avLst>
              <a:gd name="adj" fmla="val 8608"/>
            </a:avLst>
          </a:prstGeom>
          <a:solidFill>
            <a:srgbClr val="FFFFFF">
              <a:alpha val="85000"/>
            </a:srgbClr>
          </a:solidFill>
          <a:ln w="12700">
            <a:solidFill>
              <a:srgbClr val="D0D0D0"/>
            </a:solidFill>
            <a:prstDash val="solid"/>
          </a:ln>
        </p:spPr>
      </p:sp>
      <p:pic>
        <p:nvPicPr>
          <p:cNvPr id="5" name="Image 0" descr="/home/claude/w/img/04_loan_status_by_categor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1783080"/>
            <a:ext cx="10698480" cy="2912439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94360" y="49377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b="1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Credit history decides</a:t>
            </a:r>
            <a:endParaRPr lang="en-US" dirty="0"/>
          </a:p>
        </p:txBody>
      </p:sp>
      <p:sp>
        <p:nvSpPr>
          <p:cNvPr id="7" name="Text 4"/>
          <p:cNvSpPr txBox="1"/>
          <p:nvPr/>
        </p:nvSpPr>
        <p:spPr>
          <a:xfrm>
            <a:off x="594360" y="5303520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About 80% approved with a good credit history, versus about 8% without.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4343400" y="49377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b="1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Area and marital status help</a:t>
            </a:r>
            <a:endParaRPr lang="en-US" dirty="0"/>
          </a:p>
        </p:txBody>
      </p:sp>
      <p:sp>
        <p:nvSpPr>
          <p:cNvPr id="9" name="Text 6"/>
          <p:cNvSpPr txBox="1"/>
          <p:nvPr/>
        </p:nvSpPr>
        <p:spPr>
          <a:xfrm>
            <a:off x="4343400" y="5303520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Semi-urban properties and married applicants have somewhat higher approval rates.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8092440" y="49377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b="1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Gender and self-employment</a:t>
            </a:r>
            <a:endParaRPr lang="en-US" dirty="0"/>
          </a:p>
        </p:txBody>
      </p:sp>
      <p:sp>
        <p:nvSpPr>
          <p:cNvPr id="11" name="Text 8"/>
          <p:cNvSpPr txBox="1"/>
          <p:nvPr/>
        </p:nvSpPr>
        <p:spPr>
          <a:xfrm>
            <a:off x="8092440" y="5303520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Little difference in approval, so they add almost no signal.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  Business Understanding Report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These Choices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743200" cy="457200"/>
          </a:xfrm>
          <a:prstGeom prst="roundRect">
            <a:avLst>
              <a:gd name="adj" fmla="val 50000"/>
            </a:avLst>
          </a:prstGeom>
          <a:solidFill>
            <a:srgbClr val="BCD3F5"/>
          </a:solidFill>
          <a:ln w="9525">
            <a:solidFill>
              <a:srgbClr val="6B6F7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8288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 and median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3520440" y="1792732"/>
            <a:ext cx="84048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Categories have no meaningful mean; the median is not pulled up by a few huge loans.</a:t>
            </a: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548640" y="2697480"/>
            <a:ext cx="2743200" cy="457200"/>
          </a:xfrm>
          <a:prstGeom prst="roundRect">
            <a:avLst>
              <a:gd name="adj" fmla="val 50000"/>
            </a:avLst>
          </a:prstGeom>
          <a:solidFill>
            <a:srgbClr val="BCD3F5"/>
          </a:solidFill>
          <a:ln w="9525">
            <a:solidFill>
              <a:srgbClr val="6B6F7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6974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Cap, do not delete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3520440" y="2761742"/>
            <a:ext cx="80924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incomes look genuine, and the dataset is too small to lose rows.</a:t>
            </a: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548640" y="3566160"/>
            <a:ext cx="2743200" cy="457200"/>
          </a:xfrm>
          <a:prstGeom prst="roundRect">
            <a:avLst>
              <a:gd name="adj" fmla="val 50000"/>
            </a:avLst>
          </a:prstGeom>
          <a:solidFill>
            <a:srgbClr val="BCD3F5"/>
          </a:solidFill>
          <a:ln w="9525">
            <a:solidFill>
              <a:srgbClr val="6B6F7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35661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Fit on training only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3520440" y="3538220"/>
            <a:ext cx="81229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Fill values, outlier limits and the scaler come from training data to avoid leakage.</a:t>
            </a: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548640" y="4434840"/>
            <a:ext cx="2743200" cy="457200"/>
          </a:xfrm>
          <a:prstGeom prst="roundRect">
            <a:avLst>
              <a:gd name="adj" fmla="val 50000"/>
            </a:avLst>
          </a:prstGeom>
          <a:solidFill>
            <a:srgbClr val="BCD3F5"/>
          </a:solidFill>
          <a:ln w="9525">
            <a:solidFill>
              <a:srgbClr val="6B6F7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44348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Remove gender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3550920" y="4407662"/>
            <a:ext cx="83743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link to approval, and a sensitive attribute that should not drive credit decisions.</a:t>
            </a: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548640" y="5440680"/>
            <a:ext cx="11064240" cy="1005840"/>
          </a:xfrm>
          <a:prstGeom prst="roundRect">
            <a:avLst>
              <a:gd name="adj" fmla="val 27273"/>
            </a:avLst>
          </a:prstGeom>
          <a:solidFill>
            <a:srgbClr val="3A3A3C">
              <a:alpha val="85000"/>
            </a:srgbClr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22960" y="5596128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Ready for modelling: 614 rows, numeric features, 0/1 target, no missing values. It is important to use a validation split, as the target is 69/31 imbalanced.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586</Words>
  <Application>Microsoft Office PowerPoint</Application>
  <PresentationFormat>Widescreen</PresentationFormat>
  <Paragraphs>79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9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Shammah Ndubuisi</dc:creator>
  <cp:lastModifiedBy>shammah Ndubuisi</cp:lastModifiedBy>
  <cp:revision>3</cp:revision>
  <dcterms:created xsi:type="dcterms:W3CDTF">2026-10-28T18:30:45Z</dcterms:created>
  <dcterms:modified xsi:type="dcterms:W3CDTF">2026-10-28T18:58:58Z</dcterms:modified>
</cp:coreProperties>
</file>